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Team and links. Background art: the six largest connected components of the real transaction network (agg_network_edges).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headline numbers are the data-trust evidence: collision counts from dim_users/dim_merchants (5,341 customer IDs, 1,310 merchant IDs), and audit_facts for the chargeback key disagreement (0 of 2,607) and MCC agreement (10.12% vs 9.76% expected).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row and column counts: README §4 and recon_rows. Issue evidence: audit_facts, agg_data_quality, dim_users pan_status, README §4.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Cleaning modules: src/cleaning (duplicates, ids, amounts, timestamps, statuses, kyc, merchants, chargebacks, validation) and src/transformation/star_schema.py. Row counts: star schema and agg_data_quality (13,522 / 10,369 UNKNOWN-routed transactions, 193 unlinked complaints).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kpi_headline.parquet; 2,451 distinct disputed transactions from fact_chargebacks; daily series from agg_daily; trend p-value from agg_forecast_diagnostics.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agg_merchant (floor, raw/shrunk rates), hypothesis register (overdispersion chi2/df 0.9688, p 0.904), risk_indicators.py (4 x 25 points, disclaimer).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Repeated-ID counts: Stage 1 forensic audit of the raw files (docs/01_forensic_audit.md). PAN figures: audit_facts on the cleaned layer. Bridge rows: bridge_identity_collision.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agg_network_summary; audit_facts (shared full Aadhaar / PAN / settlement accounts); chart: largest component from agg_network_edges (45 customers, 20 merchants, 64 transactions, 9 disputed).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agg_hypothesis_register.parquet: statistics, p-values and readings (takeover 1.16 days earlier; duplicates Rs 5,186,378 = 2.0%).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Centre: screenshot of the deployed dashboard answering a typed question. Right: answers produced by the real planner/executor. Registry: 23 metrics, 15 dimensions (semantic.py). Evaluation matrix: 66/66 (docs/agent_test_matrix.md). No LLM, no API key, no network calls (.env.example, README).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investigation path across seven pages of the deployed app. Screenshots captured from the live deployment; Identity &amp; Network shown on its Network structure tab so no customer-level rows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the verified project. Technologies from requirements.txt.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kumarrishuraj-datavortex-appdashboard-vsor4k.streamlit.app/" TargetMode="External"/><Relationship Id="rId5" Type="http://schemas.openxmlformats.org/officeDocument/2006/relationships/hyperlink" Target="https://github.com/kumarrishuraj/datavorte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kumarrishuraj-datavortex-appdashboard-vsor4k.streamlit.app/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hyperlink" Target="https://github.com/kumarrishuraj/datavortex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umarrishuraj-datavortex-appdashboard-vsor4k.streamlit.app/" TargetMode="External"/><Relationship Id="rId4" Type="http://schemas.openxmlformats.org/officeDocument/2006/relationships/hyperlink" Target="https://github.com/kumarrishuraj/datavorte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1 / 12</a:t>
            </a:r>
          </a:p>
        </p:txBody>
      </p:sp>
      <p:pic>
        <p:nvPicPr>
          <p:cNvPr id="5" name="Picture 4" descr="network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02920"/>
            <a:ext cx="5577840" cy="5203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6053328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Background: the largest connected components of the real DataVortex transaction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978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 spc="250">
                <a:solidFill>
                  <a:srgbClr val="22D3EE"/>
                </a:solidFill>
                <a:latin typeface="Segoe UI Semibold"/>
              </a:rPr>
              <a:t>TRANSORG AGENTIQ DATATHON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Track 1 — FinTech &amp; BFSI  ·  UPI Fraud Ring &amp; Merchant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8521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6600" b="0" i="0">
                <a:solidFill>
                  <a:srgbClr val="F1F5F9"/>
                </a:solidFill>
                <a:latin typeface="Segoe UI Semibold"/>
              </a:rPr>
              <a:t>DataVortex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F1F5F9"/>
                </a:solidFill>
                <a:latin typeface="Segoe UI Light"/>
              </a:rPr>
              <a:t>UPI Fraud &amp; Identity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84448"/>
            <a:ext cx="82296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A5F3FC"/>
                </a:solidFill>
                <a:latin typeface="Segoe UI"/>
              </a:rPr>
              <a:t>“Turning UPI Data Chaos into Fraud Intelligence.”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20">
                <a:solidFill>
                  <a:srgbClr val="22D3EE"/>
                </a:solidFill>
                <a:latin typeface="Segoe UI Semibold"/>
              </a:rPr>
              <a:t>TEAM DATAVORTEX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Rishuraj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892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12400878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029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Amit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029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12400871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138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Satyam Saurabh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51383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12310274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167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D3EE"/>
                </a:solidFill>
                <a:latin typeface="Segoe UI Semibold"/>
                <a:hlinkClick r:id="rId4"/>
              </a:rPr>
              <a:t>Live dashboard ↗</a:t>
            </a:r>
            <a:r>
              <a:rPr sz="1200" b="0" i="0">
                <a:solidFill>
                  <a:srgbClr val="F1F5F9"/>
                </a:solidFill>
                <a:latin typeface="Segoe UI"/>
              </a:rPr>
              <a:t>      </a:t>
            </a:r>
            <a:r>
              <a:rPr sz="1200" b="0" i="0">
                <a:solidFill>
                  <a:srgbClr val="22D3EE"/>
                </a:solidFill>
                <a:latin typeface="Segoe UI Semibold"/>
                <a:hlinkClick r:id="rId5"/>
              </a:rPr>
              <a:t>GitHub repository 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F1F5F9"/>
                </a:solidFill>
                <a:latin typeface="Segoe UI Semibold"/>
              </a:rPr>
              <a:t>The Hardest Problem Wasn't Fraud. It Was Trusting the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38728" cy="932688"/>
          </a:xfrm>
          <a:prstGeom prst="roundRect">
            <a:avLst>
              <a:gd name="adj" fmla="val 7843"/>
            </a:avLst>
          </a:prstGeom>
          <a:solidFill>
            <a:srgbClr val="0E1628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4475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22D3EE"/>
                </a:solidFill>
                <a:latin typeface="Segoe UI Semibold"/>
              </a:rPr>
              <a:t>5,341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938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"/>
              </a:rPr>
              <a:t>customer IDs shared by different entities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3538728" cy="932688"/>
          </a:xfrm>
          <a:prstGeom prst="roundRect">
            <a:avLst>
              <a:gd name="adj" fmla="val 7843"/>
            </a:avLst>
          </a:prstGeom>
          <a:solidFill>
            <a:srgbClr val="0E1628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44475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22D3EE"/>
                </a:solidFill>
                <a:latin typeface="Segoe UI Semibold"/>
              </a:rPr>
              <a:t>1,310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92938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"/>
              </a:rPr>
              <a:t>merchant IDs shared by different businesses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71600"/>
            <a:ext cx="3538728" cy="932688"/>
          </a:xfrm>
          <a:prstGeom prst="roundRect">
            <a:avLst>
              <a:gd name="adj" fmla="val 7843"/>
            </a:avLst>
          </a:prstGeom>
          <a:solidFill>
            <a:srgbClr val="0E1628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4475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22D3EE"/>
                </a:solidFill>
                <a:latin typeface="Segoe UI Semibold"/>
              </a:rPr>
              <a:t>0 / 2,607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2938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"/>
              </a:rPr>
              <a:t>chargeback user_id matches linked transaction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15184"/>
            <a:ext cx="54864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5786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UPI transaction data is fragmented and noisy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4378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Currency symbols inside numbers, sign-corrupted amounts, 5–7 timestamp formats per date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46704"/>
            <a:ext cx="54864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101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Identity records collide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7530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One customer ID can belong to several different people; user IDs arrive in five formats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78224"/>
            <a:ext cx="54864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416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Merchant IDs collide and categories disagree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0682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Transaction MCC matches the merchant master only 10.12% of the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09744"/>
            <a:ext cx="54864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731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Chargebacks carry noisy denormalized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3834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The complaint's own user_id never matches its linked transaction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541264"/>
            <a:ext cx="54864" cy="530352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5046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A wrong foundation gives confident, wrong answers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6986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Dispute and risk analytics built on unvalidated joins point at the wrong entities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786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F43F5E"/>
                </a:solidFill>
                <a:latin typeface="Segoe UI Semibold"/>
              </a:rPr>
              <a:t>WITHOUT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5786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22D3EE"/>
                </a:solidFill>
                <a:latin typeface="Segoe UI Semibold"/>
              </a:rPr>
              <a:t>WITH DATAVORTEX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916936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916936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 Semibold"/>
              </a:rPr>
              <a:t>Raw UPI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635240" y="3502152"/>
            <a:ext cx="0" cy="237744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00800" y="3758184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758184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 Semibold"/>
              </a:rPr>
              <a:t>Data-quality problems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35240" y="4343400"/>
            <a:ext cx="0" cy="237744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00800" y="4599432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599432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 Semibold"/>
              </a:rPr>
              <a:t>Identity &amp; merchant ambiguity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35240" y="5184648"/>
            <a:ext cx="0" cy="237744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0" y="544068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1A1320"/>
          </a:solidFill>
          <a:ln w="9525">
            <a:solidFill>
              <a:srgbClr val="5A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44068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0" i="0">
                <a:solidFill>
                  <a:srgbClr val="F43F5E"/>
                </a:solidFill>
                <a:latin typeface="Segoe UI Semibold"/>
              </a:rPr>
              <a:t>Unreliable risk signals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2916936"/>
            <a:ext cx="2496312" cy="566928"/>
          </a:xfrm>
          <a:prstGeom prst="roundRect">
            <a:avLst>
              <a:gd name="adj" fmla="val 1290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2916936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 Semibold"/>
              </a:rPr>
              <a:t>Same raw UPI data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392156" y="3502152"/>
            <a:ext cx="0" cy="237744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144000" y="3758184"/>
            <a:ext cx="2496312" cy="1389888"/>
          </a:xfrm>
          <a:prstGeom prst="roundRect">
            <a:avLst>
              <a:gd name="adj" fmla="val 5263"/>
            </a:avLst>
          </a:prstGeom>
          <a:solidFill>
            <a:srgbClr val="0B213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3840480"/>
            <a:ext cx="2221992" cy="12252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22D3EE"/>
                </a:solidFill>
                <a:latin typeface="Segoe UI Semibold"/>
              </a:rPr>
              <a:t>DataVortex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A5F3FC"/>
                </a:solidFill>
                <a:latin typeface="Segoe UI"/>
              </a:rPr>
              <a:t>rescue · validate · test hypotheses before reporting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392156" y="5166360"/>
            <a:ext cx="0" cy="237744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144000" y="5422392"/>
            <a:ext cx="2496312" cy="566928"/>
          </a:xfrm>
          <a:prstGeom prst="roundRect">
            <a:avLst>
              <a:gd name="adj" fmla="val 12903"/>
            </a:avLst>
          </a:prstGeom>
          <a:solidFill>
            <a:srgbClr val="0F2A2A"/>
          </a:solidFill>
          <a:ln w="9525">
            <a:solidFill>
              <a:srgbClr val="1F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5422392"/>
            <a:ext cx="249631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34D399"/>
                </a:solidFill>
                <a:latin typeface="Segoe UI Semibold"/>
              </a:rPr>
              <a:t>Validated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Before Analytics, We Had to Rescue the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UPI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track1_upi_transactions.csv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2D3EE"/>
                </a:solidFill>
                <a:latin typeface="Segoe UI Semibold"/>
              </a:rPr>
              <a:t>20,400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raw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7797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8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73736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47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KYC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214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track1_kyc_records.csv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2D3EE"/>
                </a:solidFill>
                <a:latin typeface="Segoe UI Semibold"/>
              </a:rPr>
              <a:t>36,400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raw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797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12 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Merchant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214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track1_merchants_master.csv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2D3EE"/>
                </a:solidFill>
                <a:latin typeface="Segoe UI Semibold"/>
              </a:rPr>
              <a:t>6,210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raw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7797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11 columns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1737360"/>
            <a:ext cx="2587752" cy="1325880"/>
          </a:xfrm>
          <a:prstGeom prst="roundRect">
            <a:avLst>
              <a:gd name="adj" fmla="val 5517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47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 Semibold"/>
              </a:rPr>
              <a:t>Chargebacks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1214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track1_chargebacks.json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377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2D3EE"/>
                </a:solidFill>
                <a:latin typeface="Segoe UI Semibold"/>
              </a:rPr>
              <a:t>2,884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raw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2779776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13 fields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200400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0B2130"/>
          </a:solidFill>
          <a:ln w="9525">
            <a:solidFill>
              <a:srgbClr val="17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00400"/>
            <a:ext cx="110916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5F3FC"/>
                </a:solidFill>
                <a:latin typeface="Segoe UI Semibold"/>
              </a:rPr>
              <a:t>↓   Data rescue pipeline — every defect is measured before it is repaired, and flagged rather than hidden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85615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913631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587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Duplicate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12394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400 transaction · 84 complaint · 278 KYC · 12 merchant rows, byte-identical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11396" y="3785615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1396" y="3913631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4276" y="38587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Identifier collisions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4276" y="412394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5,341 customer IDs and 1,310 merchant IDs shared by different entities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74152" y="3785615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74152" y="3913631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1" y="38587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Malformed IDs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7031" y="412394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User IDs in five formats; 116 malformed chargeback txn_ids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608576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736592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6817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Missing UTRs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94690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1,000 transactions — flagged, never fabricated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11396" y="4608576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11396" y="4736592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94276" y="46817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Inconsistent timestamps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4276" y="494690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5–7 formats per date field; 1,000 date-only timestamps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74152" y="4608576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74152" y="4736592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57031" y="46817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Amount sign corruption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57031" y="494690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429 negative amounts, none with a matching positive twin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431536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559551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504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KYC / PAN issues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76986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687 PANs repaired from OCR look-alikes; 1,454 truncated, left unrepaired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11396" y="5431536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11396" y="5559551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94276" y="5504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Category inconsistencies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94276" y="576986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82 category spellings; transaction MCC agrees with the master 10.12% of the time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74152" y="5431536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74152" y="5559551"/>
            <a:ext cx="45720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57031" y="5504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Noisy chargeback fields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57031" y="576986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Complaint user_id and merchant_id never match the linked transaction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Data Rescue → Validated Analytical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55648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151D30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162763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 i="0" spc="100">
                <a:solidFill>
                  <a:srgbClr val="9AA8BD"/>
                </a:solidFill>
                <a:latin typeface="Segoe UI Semibold"/>
              </a:rPr>
              <a:t>RAW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057400"/>
            <a:ext cx="192024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41448" y="1755648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1755648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1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Exact deduplication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5656" y="2057400"/>
            <a:ext cx="192024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34255" y="1755648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5" y="1755648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2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ID normalization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98464" y="2057400"/>
            <a:ext cx="192023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27063" y="1755648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755648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3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Amount parsing &amp; sign repair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91271" y="2057400"/>
            <a:ext cx="192025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19871" y="1755648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1" y="1755648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4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Timestamp normalization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84079" y="2057400"/>
            <a:ext cx="192025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1755648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19" y="1755648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5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Canonicalization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826496" y="2377440"/>
            <a:ext cx="0" cy="256032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12680" y="2651760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19" y="2651760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6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KYC repair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9784079" y="2953512"/>
            <a:ext cx="192025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19871" y="2651760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1" y="2651760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7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Chargeback normalization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891271" y="2953512"/>
            <a:ext cx="192025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27063" y="2651760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3" y="2651760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8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Collision resolution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998463" y="2953512"/>
            <a:ext cx="192024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334255" y="2651760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25695" y="2651760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9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FK validation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4105655" y="2953512"/>
            <a:ext cx="192024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441448" y="2651760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2888" y="2651760"/>
            <a:ext cx="144475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10  </a:t>
            </a:r>
            <a:r>
              <a:rPr sz="1150" b="0" i="0">
                <a:solidFill>
                  <a:srgbClr val="F1F5F9"/>
                </a:solidFill>
                <a:latin typeface="Segoe UI Semibold"/>
              </a:rPr>
              <a:t>UNKNOWN routing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2212848" y="2953512"/>
            <a:ext cx="192024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2651760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0B213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2651760"/>
            <a:ext cx="15361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50" b="0" i="0">
                <a:solidFill>
                  <a:srgbClr val="22D3EE"/>
                </a:solidFill>
                <a:latin typeface="Segoe UI Semibold"/>
              </a:rPr>
              <a:t>CLEAN ANALYTICAL MODEL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3493008"/>
            <a:ext cx="6995160" cy="2724912"/>
          </a:xfrm>
          <a:prstGeom prst="roundRect">
            <a:avLst>
              <a:gd name="adj" fmla="val 2684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593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22D3EE"/>
                </a:solidFill>
                <a:latin typeface="Segoe UI Semibold"/>
              </a:rPr>
              <a:t>PARQUET STAR SCHEMA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3913632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111C33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3977640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1F5F9"/>
                </a:solidFill>
                <a:latin typeface="Segoe UI Semibold"/>
              </a:rPr>
              <a:t>DIM_USERS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4233672"/>
            <a:ext cx="188366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28,920 + UNKNOWN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3913632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111C33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72968" y="3977640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1F5F9"/>
                </a:solidFill>
                <a:latin typeface="Segoe UI Semibold"/>
              </a:rPr>
              <a:t>DIM_MERCHANTS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72968" y="4233672"/>
            <a:ext cx="188366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4,343 + UNKNOWN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49240" y="3913632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111C33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58968" y="3977640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1F5F9"/>
                </a:solidFill>
                <a:latin typeface="Segoe UI Semibold"/>
              </a:rPr>
              <a:t>DIM_DATE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8968" y="4233672"/>
            <a:ext cx="188366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spans both fact tables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4846320"/>
            <a:ext cx="3017520" cy="603504"/>
          </a:xfrm>
          <a:prstGeom prst="roundRect">
            <a:avLst>
              <a:gd name="adj" fmla="val 12121"/>
            </a:avLst>
          </a:prstGeom>
          <a:solidFill>
            <a:srgbClr val="111C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" y="4910328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2D3EE"/>
                </a:solidFill>
                <a:latin typeface="Segoe UI Semibold"/>
              </a:rPr>
              <a:t>FACT_TRANSACTIONS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" y="5166359"/>
            <a:ext cx="279806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20,000 rows · one per txn_id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34840" y="4846320"/>
            <a:ext cx="3017520" cy="603504"/>
          </a:xfrm>
          <a:prstGeom prst="roundRect">
            <a:avLst>
              <a:gd name="adj" fmla="val 12121"/>
            </a:avLst>
          </a:prstGeom>
          <a:solidFill>
            <a:srgbClr val="111C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4568" y="4910328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2D3EE"/>
                </a:solidFill>
                <a:latin typeface="Segoe UI Semibold"/>
              </a:rPr>
              <a:t>FACT_CHARGEBACKS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4568" y="5166359"/>
            <a:ext cx="279806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2,800 rows · linked via txn_id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828800" y="4517136"/>
            <a:ext cx="182880" cy="329184"/>
          </a:xfrm>
          <a:prstGeom prst="line">
            <a:avLst/>
          </a:prstGeom>
          <a:ln w="12700">
            <a:solidFill>
              <a:srgbClr val="3A4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108960" y="4517136"/>
            <a:ext cx="1005840" cy="329184"/>
          </a:xfrm>
          <a:prstGeom prst="line">
            <a:avLst/>
          </a:prstGeom>
          <a:ln w="12700">
            <a:solidFill>
              <a:srgbClr val="3A4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943600" y="4517136"/>
            <a:ext cx="457200" cy="329184"/>
          </a:xfrm>
          <a:prstGeom prst="line">
            <a:avLst/>
          </a:prstGeom>
          <a:ln w="12700">
            <a:solidFill>
              <a:srgbClr val="3A4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794760" y="5148072"/>
            <a:ext cx="64008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77240" y="5541264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11C33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6968" y="5605272"/>
            <a:ext cx="645566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1F5F9"/>
                </a:solidFill>
                <a:latin typeface="Segoe UI Semibold"/>
              </a:rPr>
              <a:t>BRIDGE_IDENTITY_COLLISION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968" y="5861303"/>
            <a:ext cx="64556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16,578 candidate rows — every colliding identity record preserved and inspectable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26679" y="3493008"/>
            <a:ext cx="3913632" cy="2724912"/>
          </a:xfrm>
          <a:prstGeom prst="roundRect">
            <a:avLst>
              <a:gd name="adj" fmla="val 2684"/>
            </a:avLst>
          </a:prstGeom>
          <a:solidFill>
            <a:srgbClr val="0B2130"/>
          </a:solidFill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55279" y="3657600"/>
            <a:ext cx="6400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79" y="3785615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22D3EE"/>
                </a:solidFill>
                <a:latin typeface="Segoe UI Semibold"/>
              </a:rPr>
              <a:t>ENGINEERING PRINCIPLE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79" y="4041648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F1F5F9"/>
                </a:solidFill>
                <a:latin typeface="Segoe UI Semibold"/>
              </a:rPr>
              <a:t>Unmatched ≠ deleted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4645152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5F3FC"/>
                </a:solidFill>
                <a:latin typeface="Segoe UI"/>
              </a:rPr>
              <a:t>Records that don't join go to an explicit UNKNOWN member and stay in every total.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5279" y="51755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13,522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15400" y="5202936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transactions without a KYC match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79" y="55412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10,369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15400" y="5568696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transactions without a merchant-master match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59070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193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15400" y="5934456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complaints with no linkable transaction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CORE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What the Clean Data Reveals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Computed on the cleaned star schema; 16 of 16 KPIs are re-validated by an independent route.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20,000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50591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Unique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400 duplicate rows collapsed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737360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865376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₹249.77M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450591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Transaction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715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₹249,772,508.82 exactly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865376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₹12,489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50591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Average transaction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715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per 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737360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865376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22D3EE"/>
                </a:solidFill>
                <a:latin typeface="Segoe UI Semibold"/>
              </a:rPr>
              <a:t>12.26%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450591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Chargeback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715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2,451 disputed ÷ 20,000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63824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291840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2,800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877056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Chargeback complaints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142232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unique complaint IDs (2,884 raw)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163824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3291840"/>
            <a:ext cx="222199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F1F5F9"/>
                </a:solidFill>
                <a:latin typeface="Segoe UI Semibold"/>
              </a:rPr>
              <a:t>2,451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3877056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Disputed transactions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4142232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151 carry 2+ complaints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163824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Transaction outcomes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3639312"/>
            <a:ext cx="1863394" cy="182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2482" y="3639312"/>
            <a:ext cx="213624" cy="18288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96107" y="3639312"/>
            <a:ext cx="108396" cy="182880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3931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Segoe UI Semibold"/>
              </a:rPr>
              <a:t>85.27%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416966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8896" y="3931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3F5E"/>
                </a:solidFill>
                <a:latin typeface="Segoe UI Semibold"/>
              </a:rPr>
              <a:t>9.78%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8896" y="416966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failed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3931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B041"/>
                </a:solidFill>
                <a:latin typeface="Segoe UI Semibold"/>
              </a:rPr>
              <a:t>4.96%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18704" y="416966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pending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560" y="3163824"/>
            <a:ext cx="2587752" cy="1298448"/>
          </a:xfrm>
          <a:prstGeom prst="roundRect">
            <a:avLst>
              <a:gd name="adj" fmla="val 563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3728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KYC 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728" y="358444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1F5F9"/>
                </a:solidFill>
                <a:latin typeface="Segoe UI Semibold"/>
              </a:rPr>
              <a:t>77.43%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42448" y="358444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1F5F9"/>
                </a:solidFill>
                <a:latin typeface="Segoe UI Semibold"/>
              </a:rPr>
              <a:t>8.10%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728" y="3977639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completion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42448" y="397763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rejection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3728" y="41879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of 28,920 resolved identities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590288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6817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180">
                <a:solidFill>
                  <a:srgbClr val="22D3EE"/>
                </a:solidFill>
                <a:latin typeface="Segoe UI Semibold"/>
              </a:rPr>
              <a:t>TRANSACTIONS PER DAY  ·  1 JAN – 31 MAR 2026</a:t>
            </a:r>
          </a:p>
        </p:txBody>
      </p:sp>
      <p:pic>
        <p:nvPicPr>
          <p:cNvPr id="53" name="Picture 52" descr="daily_trans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56048"/>
            <a:ext cx="6239256" cy="121615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641080" y="4754880"/>
            <a:ext cx="283464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90 days · 198–254 per day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No significant trend (p = 0.977).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0" i="0">
                <a:solidFill>
                  <a:srgbClr val="F5B041"/>
                </a:solidFill>
                <a:latin typeface="Segoe UI"/>
              </a:rPr>
              <a:t>Chargebacks are customer disputes, not confirmed fraud. The rate counts distinct disputed transactions, not complaints.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MERCHANT &amp; USER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Risk Signals That Survive Small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Merchant dispute rates are stabilised before anyone ranks on them.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6 / 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" y="2103120"/>
            <a:ext cx="0" cy="3337560"/>
          </a:xfrm>
          <a:prstGeom prst="line">
            <a:avLst/>
          </a:prstGeom>
          <a:ln w="19050">
            <a:solidFill>
              <a:srgbClr val="2A3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1783080"/>
            <a:ext cx="4800600" cy="950976"/>
          </a:xfrm>
          <a:prstGeom prst="roundRect">
            <a:avLst>
              <a:gd name="adj" fmla="val 7692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2121408"/>
            <a:ext cx="274320" cy="274320"/>
          </a:xfrm>
          <a:prstGeom prst="ellipse">
            <a:avLst/>
          </a:prstGeom>
          <a:solidFill>
            <a:srgbClr val="111C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856231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8BD"/>
                </a:solidFill>
                <a:latin typeface="Segoe UI Semibold"/>
              </a:rPr>
              <a:t>Raw dispute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30552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2D3EE"/>
                </a:solidFill>
                <a:latin typeface="Segoe UI Semibold"/>
              </a:rPr>
              <a:t>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1226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Segoe UI"/>
              </a:rPr>
              <a:t>merchants show a 100% raw dispute ratio — almost all with one transaction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862072"/>
            <a:ext cx="4800600" cy="950976"/>
          </a:xfrm>
          <a:prstGeom prst="roundRect">
            <a:avLst>
              <a:gd name="adj" fmla="val 7692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3200400"/>
            <a:ext cx="274320" cy="274320"/>
          </a:xfrm>
          <a:prstGeom prst="ellipse">
            <a:avLst/>
          </a:prstGeom>
          <a:solidFill>
            <a:srgbClr val="111C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93522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8BD"/>
                </a:solidFill>
                <a:latin typeface="Segoe UI Semibold"/>
              </a:rPr>
              <a:t>Minimum evidence  ·  ≥ 3 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09544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2D3EE"/>
                </a:solidFill>
                <a:latin typeface="Segoe UI Semibold"/>
              </a:rPr>
              <a:t>4,600 / 8,051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19125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Segoe UI"/>
              </a:rPr>
              <a:t>below the floor: flagged and kept, never ranked on rate · 100%-ratio merchants fall from 304 to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941063"/>
            <a:ext cx="4800600" cy="950976"/>
          </a:xfrm>
          <a:prstGeom prst="roundRect">
            <a:avLst>
              <a:gd name="adj" fmla="val 7692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4279392"/>
            <a:ext cx="274320" cy="274320"/>
          </a:xfrm>
          <a:prstGeom prst="ellipse">
            <a:avLst/>
          </a:prstGeom>
          <a:solidFill>
            <a:srgbClr val="111C33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279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2D3EE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14215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8BD"/>
                </a:solidFill>
                <a:latin typeface="Segoe UI Semibold"/>
              </a:rPr>
              <a:t>Empirical-Bayes shrinkage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288536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2D3EE"/>
                </a:solidFill>
                <a:latin typeface="Segoe UI Semibold"/>
              </a:rPr>
              <a:t>17.16 → 0.69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270248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Segoe UI"/>
              </a:rPr>
              <a:t>spread (SD) of dispute rates across 3,451 eligible merchants, raw vs shrunk toward the category mean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020056"/>
            <a:ext cx="4800600" cy="950976"/>
          </a:xfrm>
          <a:prstGeom prst="roundRect">
            <a:avLst>
              <a:gd name="adj" fmla="val 7692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5358384"/>
            <a:ext cx="274320" cy="27432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58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070B16"/>
                </a:solidFill>
                <a:latin typeface="Segoe UI Semibol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9320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8BD"/>
                </a:solidFill>
                <a:latin typeface="Segoe UI Semibold"/>
              </a:rPr>
              <a:t>Stable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6752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22D3EE"/>
                </a:solidFill>
                <a:latin typeface="Segoe UI Semibold"/>
              </a:rPr>
              <a:t>χ²/df = 0.969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3492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Segoe UI"/>
              </a:rPr>
              <a:t>p = 0.904 — no detectable merchant-level dispute propensity, so merchants are ranked by exposure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783080"/>
            <a:ext cx="5422392" cy="2999232"/>
          </a:xfrm>
          <a:prstGeom prst="roundRect">
            <a:avLst>
              <a:gd name="adj" fmla="val 2439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187451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150">
                <a:solidFill>
                  <a:srgbClr val="22D3EE"/>
                </a:solidFill>
                <a:latin typeface="Segoe UI Semibold"/>
              </a:rPr>
              <a:t>RAW VS SHRUNK DISPUTE RATE  ·  3,451 ELIGIBLE MERCHANTS</a:t>
            </a:r>
          </a:p>
        </p:txBody>
      </p:sp>
      <p:pic>
        <p:nvPicPr>
          <p:cNvPr id="36" name="Picture 35" descr="shrinkage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48840"/>
            <a:ext cx="3042314" cy="22402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802368" y="2377440"/>
            <a:ext cx="17373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Dotted line = no shrinkage.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F1F5F9"/>
                </a:solidFill>
                <a:latin typeface="Segoe UI"/>
              </a:rPr>
              <a:t>Raw ratios spread from 0 to 100%; shrunk estimates collapse near the shared rate.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910328"/>
            <a:ext cx="5422392" cy="1325880"/>
          </a:xfrm>
          <a:prstGeom prst="roundRect">
            <a:avLst>
              <a:gd name="adj" fmla="val 5517"/>
            </a:avLst>
          </a:prstGeom>
          <a:solidFill>
            <a:srgbClr val="1A1714"/>
          </a:solidFill>
          <a:ln w="9525">
            <a:solidFill>
              <a:srgbClr val="5B4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500176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F5B041"/>
                </a:solidFill>
                <a:latin typeface="Segoe UI Semibold"/>
              </a:rPr>
              <a:t>RISK INDICATOR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526694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1F5F9"/>
                </a:solidFill>
                <a:latin typeface="Segoe UI Semibold"/>
              </a:rPr>
              <a:t>0–100 review priority from 4 observable components × 25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5596128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5B041"/>
                </a:solidFill>
                <a:latin typeface="Segoe UI Semibold"/>
              </a:rPr>
              <a:t>Not a fraud probability — the data has no fraud label. 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Dispute counts use distinct disputed transactions, not complaints, which overstated dispersion.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IDENTITY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Identity Collisions Are a Signal — Not a Verdict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760720" cy="1737360"/>
          </a:xfrm>
          <a:prstGeom prst="roundRect">
            <a:avLst>
              <a:gd name="adj" fmla="val 421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180">
                <a:solidFill>
                  <a:srgbClr val="22D3EE"/>
                </a:solidFill>
                <a:latin typeface="Segoe UI Semibold"/>
              </a:rPr>
              <a:t>KYC RECORDS  ·  REPEATED user_id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6,288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2860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AA8BD"/>
                </a:solidFill>
                <a:latin typeface="Segoe UI"/>
              </a:rPr>
              <a:t>repeated IDs across 13,768 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70632"/>
            <a:ext cx="798733" cy="201168"/>
          </a:xfrm>
          <a:prstGeom prst="rect">
            <a:avLst/>
          </a:prstGeom>
          <a:solidFill>
            <a:srgbClr val="4A5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75973" y="2770632"/>
            <a:ext cx="4504786" cy="2011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947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  same 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6323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Segoe UI Semibold"/>
              </a:rPr>
              <a:t>5,341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  different 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760720" cy="1737360"/>
          </a:xfrm>
          <a:prstGeom prst="roundRect">
            <a:avLst>
              <a:gd name="adj" fmla="val 421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180">
                <a:solidFill>
                  <a:srgbClr val="22D3EE"/>
                </a:solidFill>
                <a:latin typeface="Segoe UI Semibold"/>
              </a:rPr>
              <a:t>MERCHANT MASTER  ·  REPEATED merchant_id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0507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1,412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1605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AA8BD"/>
                </a:solidFill>
                <a:latin typeface="Segoe UI"/>
              </a:rPr>
              <a:t>repeated IDs across 3,279 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645152"/>
            <a:ext cx="383115" cy="201168"/>
          </a:xfrm>
          <a:prstGeom prst="rect">
            <a:avLst/>
          </a:prstGeom>
          <a:solidFill>
            <a:srgbClr val="4A5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0355" y="4645152"/>
            <a:ext cx="4920404" cy="2011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102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  same 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377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Segoe UI Semibold"/>
              </a:rPr>
              <a:t>1,310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  different entities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1383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Segoe UI Semibold"/>
              </a:rPr>
              <a:t>4,422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  customer IDs carry more than one distinct valid PAN   ·   </a:t>
            </a:r>
            <a:r>
              <a:rPr sz="1300" b="0" i="0">
                <a:solidFill>
                  <a:srgbClr val="22D3EE"/>
                </a:solidFill>
                <a:latin typeface="Segoe UI Semibold"/>
              </a:rPr>
              <a:t>0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  PANs shared across 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Repeated-ID counts from the forensic audit of the raw files; PAN counts from the cleaned layer.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1783080"/>
            <a:ext cx="5010912" cy="2926080"/>
          </a:xfrm>
          <a:prstGeom prst="roundRect">
            <a:avLst>
              <a:gd name="adj" fmla="val 25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1874519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180">
                <a:solidFill>
                  <a:srgbClr val="22D3EE"/>
                </a:solidFill>
                <a:latin typeface="Segoe UI Semibold"/>
              </a:rPr>
              <a:t>WHAT A COLLISION LOOKS LIKE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2128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0" i="0" spc="40">
                <a:solidFill>
                  <a:srgbClr val="070B16"/>
                </a:solidFill>
                <a:latin typeface="Segoe UI Semibold"/>
              </a:rPr>
              <a:t>one user_id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30175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11C33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30175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 Semibold"/>
              </a:rPr>
              <a:t>KYC record A1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566660" y="2615184"/>
            <a:ext cx="1577340" cy="384048"/>
          </a:xfrm>
          <a:prstGeom prst="line">
            <a:avLst/>
          </a:prstGeom>
          <a:ln w="12700">
            <a:solidFill>
              <a:srgbClr val="4A58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03920" y="30175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11C33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0175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 Semibold"/>
              </a:rPr>
              <a:t>KYC record A2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0" y="2615184"/>
            <a:ext cx="22860" cy="384048"/>
          </a:xfrm>
          <a:prstGeom prst="line">
            <a:avLst/>
          </a:prstGeom>
          <a:ln w="12700">
            <a:solidFill>
              <a:srgbClr val="4A58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04120" y="30175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11C33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30175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 Semibold"/>
              </a:rPr>
              <a:t>KYC record B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0" y="2615184"/>
            <a:ext cx="1623060" cy="384048"/>
          </a:xfrm>
          <a:prstGeom prst="line">
            <a:avLst/>
          </a:prstGeom>
          <a:ln w="12700">
            <a:solidFill>
              <a:srgbClr val="4A58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12280" y="3675887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121B2E"/>
          </a:solidFill>
          <a:ln w="9525">
            <a:solidFill>
              <a:srgbClr val="4A5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3730752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 Semibold"/>
              </a:rPr>
              <a:t>Entity 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AA8BD"/>
                </a:solidFill>
                <a:latin typeface="Segoe UI"/>
              </a:rPr>
              <a:t>same person · conflicting rows → resolved to one record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30968" y="3675887"/>
            <a:ext cx="1472184" cy="868680"/>
          </a:xfrm>
          <a:prstGeom prst="roundRect">
            <a:avLst>
              <a:gd name="adj" fmla="val 8421"/>
            </a:avLst>
          </a:prstGeom>
          <a:solidFill>
            <a:srgbClr val="0B21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76688" y="3730752"/>
            <a:ext cx="1380744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2D3EE"/>
                </a:solidFill>
                <a:latin typeface="Segoe UI Semibold"/>
              </a:rPr>
              <a:t>Entity 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F3FC"/>
                </a:solidFill>
                <a:latin typeface="Segoe UI"/>
              </a:rPr>
              <a:t>different name, PAN, DOB, city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66660" y="3493008"/>
            <a:ext cx="480060" cy="182879"/>
          </a:xfrm>
          <a:prstGeom prst="line">
            <a:avLst/>
          </a:prstGeom>
          <a:ln w="12700">
            <a:solidFill>
              <a:srgbClr val="4A5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686800" y="3493008"/>
            <a:ext cx="480060" cy="182879"/>
          </a:xfrm>
          <a:prstGeom prst="line">
            <a:avLst/>
          </a:prstGeom>
          <a:ln w="12700">
            <a:solidFill>
              <a:srgbClr val="4A5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767060" y="3493008"/>
            <a:ext cx="0" cy="182879"/>
          </a:xfrm>
          <a:prstGeom prst="line">
            <a:avLst/>
          </a:prstGeom>
          <a:ln w="127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629400" y="4846320"/>
            <a:ext cx="5010912" cy="1389888"/>
          </a:xfrm>
          <a:prstGeom prst="roundRect">
            <a:avLst>
              <a:gd name="adj" fmla="val 5263"/>
            </a:avLst>
          </a:prstGeom>
          <a:solidFill>
            <a:srgbClr val="0B213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30568" y="4937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1F5F9"/>
                </a:solidFill>
                <a:latin typeface="Segoe UI Semibold"/>
              </a:rPr>
              <a:t>Collision ≠ fraud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5413248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A5F3FC"/>
                </a:solidFill>
                <a:latin typeface="Segoe UI"/>
              </a:rPr>
              <a:t>A shared ID is a data-quality finding. Every candidate is kept (16,578 bridge rows), the ID is flagged low-confidence, and different people are never merged.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Testing the Fraud-Ring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Customers and merchants as one graph: a coordinated ring would appear as dense clusters and closed loops.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401568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37943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1F5F9"/>
                </a:solidFill>
                <a:latin typeface="Segoe UI Semibold"/>
              </a:rPr>
              <a:t>20,000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distinct customer–merchant pairs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3401568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60904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1F5F9"/>
                </a:solidFill>
                <a:latin typeface="Segoe UI Semibold"/>
              </a:rPr>
              <a:t>5,929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connected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3401568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3864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1F5F9"/>
                </a:solidFill>
                <a:latin typeface="Segoe UI Semibold"/>
              </a:rPr>
              <a:t>65 / 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nodes and edges in the largest component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3401568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06824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2D3EE"/>
                </a:solidFill>
                <a:latin typeface="Segoe UI Semibold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four-cycles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3401568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9783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22D3EE"/>
                </a:solidFill>
                <a:latin typeface="Segoe UI Semibold"/>
              </a:rPr>
              <a:t>Bipartite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8BD"/>
                </a:solidFill>
                <a:latin typeface="Segoe UI"/>
              </a:rPr>
              <a:t>and acyclic — a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70448"/>
            <a:ext cx="34015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20,000 transactions · mean degree 1.12 customers / 2.48 merchants · 0 repeat pairs · 0 shared full Aadhaar, PAN or settlement account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1783080"/>
            <a:ext cx="7479792" cy="3246120"/>
          </a:xfrm>
          <a:prstGeom prst="roundRect">
            <a:avLst>
              <a:gd name="adj" fmla="val 2253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874519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180">
                <a:solidFill>
                  <a:srgbClr val="22D3EE"/>
                </a:solidFill>
                <a:latin typeface="Segoe UI Semibold"/>
              </a:rPr>
              <a:t>LARGEST CONNECTED COMPONENT</a:t>
            </a:r>
          </a:p>
        </p:txBody>
      </p:sp>
      <p:pic>
        <p:nvPicPr>
          <p:cNvPr id="27" name="Picture 26" descr="network_compon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03120"/>
            <a:ext cx="3441316" cy="278892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8183879" y="2340864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286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"/>
              </a:rPr>
              <a:t>customer (45)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715768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670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"/>
              </a:rPr>
              <a:t>merchant (20)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3163824"/>
            <a:ext cx="201168" cy="32004"/>
          </a:xfrm>
          <a:prstGeom prst="rect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0540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1F5F9"/>
                </a:solidFill>
                <a:latin typeface="Segoe UI"/>
              </a:rPr>
              <a:t>disputed transaction (9)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6118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2D3EE"/>
                </a:solidFill>
                <a:latin typeface="Segoe UI Semibold"/>
              </a:rPr>
              <a:t>65 nodes · 64 edges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069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Segoe UI Semibold"/>
              </a:rPr>
              <a:t>A tree — no closed loop of any length.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4348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A coordinated ring would have to close one.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5138928"/>
            <a:ext cx="7479792" cy="1097280"/>
          </a:xfrm>
          <a:prstGeom prst="roundRect">
            <a:avLst>
              <a:gd name="adj" fmla="val 6666"/>
            </a:avLst>
          </a:prstGeom>
          <a:solidFill>
            <a:srgbClr val="0B213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5230368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F1F5F9"/>
                </a:solidFill>
                <a:latin typeface="Segoe UI Semibold"/>
              </a:rPr>
              <a:t>The available data provides no statistically or structurally supported evidence for the tested fraud-ring hypothesis.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87044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5F3FC"/>
                </a:solidFill>
                <a:latin typeface="Segoe UI"/>
              </a:rPr>
              <a:t>Money moving outside this dataset is not observed.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Let the Data Challenge the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The seven insights suggested by the dataset notes, each tested on the cleaned data.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22D3EE"/>
                </a:solidFill>
                <a:latin typeface="Segoe UI Semibold"/>
              </a:rPr>
              <a:t>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1051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 spc="200">
                <a:solidFill>
                  <a:srgbClr val="22D3EE"/>
                </a:solidFill>
                <a:latin typeface="Segoe UI Semibold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10512"/>
            <a:ext cx="37764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22D3EE"/>
                </a:solidFill>
                <a:latin typeface="Segoe UI Semibold"/>
              </a:rPr>
              <a:t>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30552"/>
            <a:ext cx="11091672" cy="475488"/>
          </a:xfrm>
          <a:prstGeom prst="roundRect">
            <a:avLst>
              <a:gd name="adj" fmla="val 15384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3055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"/>
              </a:rPr>
              <a:t>Certain merchant categories have disproportionately high chargebacks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2221992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2A3654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0" i="0" spc="40">
                <a:solidFill>
                  <a:srgbClr val="F1F5F9"/>
                </a:solidFill>
                <a:latin typeface="Segoe UI Semibold"/>
              </a:rPr>
              <a:t>NOT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3055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8BD"/>
                </a:solidFill>
                <a:latin typeface="Segoe UI"/>
              </a:rPr>
              <a:t>χ² = 5.24, df = 11, p = 0.92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79192"/>
            <a:ext cx="11091672" cy="475488"/>
          </a:xfrm>
          <a:prstGeom prst="roundRect">
            <a:avLst>
              <a:gd name="adj" fmla="val 15384"/>
            </a:avLst>
          </a:prstGeom>
          <a:solidFill>
            <a:srgbClr val="111C33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7919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"/>
              </a:rPr>
              <a:t>Some users appear repeatedly in disputes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770632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2A3654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0" i="0" spc="40">
                <a:solidFill>
                  <a:srgbClr val="F1F5F9"/>
                </a:solidFill>
                <a:latin typeface="Segoe UI Semibold"/>
              </a:rPr>
              <a:t>NOT SUPPORTED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67919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8BD"/>
                </a:solidFill>
                <a:latin typeface="Segoe UI"/>
              </a:rPr>
              <a:t>39 observed vs 33.9 expected, z = +0.87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27832"/>
            <a:ext cx="11091672" cy="475488"/>
          </a:xfrm>
          <a:prstGeom prst="roundRect">
            <a:avLst>
              <a:gd name="adj" fmla="val 15384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2783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"/>
              </a:rPr>
              <a:t>Merchants show sudden spikes followed by disputes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3319272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2A3654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0" i="0" spc="40">
                <a:solidFill>
                  <a:srgbClr val="F1F5F9"/>
                </a:solidFill>
                <a:latin typeface="Segoe UI Semibold"/>
              </a:rPr>
              <a:t>NOT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22783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8BD"/>
                </a:solidFill>
                <a:latin typeface="Segoe UI"/>
              </a:rPr>
              <a:t>variance/mean = 0.901 · max merchant-day =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76472"/>
            <a:ext cx="11091672" cy="475488"/>
          </a:xfrm>
          <a:prstGeom prst="roundRect">
            <a:avLst>
              <a:gd name="adj" fmla="val 15384"/>
            </a:avLst>
          </a:prstGeom>
          <a:solidFill>
            <a:srgbClr val="111C33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7647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"/>
              </a:rPr>
              <a:t>Missing UTRs correlate with failure or dispute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53328" y="3867911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2A3654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0" i="0" spc="40">
                <a:solidFill>
                  <a:srgbClr val="F1F5F9"/>
                </a:solidFill>
                <a:latin typeface="Segoe UI Semibold"/>
              </a:rPr>
              <a:t>NOT SUPPORTED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77647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8BD"/>
                </a:solidFill>
                <a:latin typeface="Segoe UI"/>
              </a:rPr>
              <a:t>χ² = 0.117, p = 0.73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25112"/>
            <a:ext cx="11091672" cy="475488"/>
          </a:xfrm>
          <a:prstGeom prst="roundRect">
            <a:avLst>
              <a:gd name="adj" fmla="val 15384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2511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"/>
              </a:rPr>
              <a:t>Unverified or rejected KYC users show higher dispute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53328" y="4416552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F5B041"/>
          </a:solidFill>
          <a:ln w="9525">
            <a:solidFill>
              <a:srgbClr val="F5B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0" i="0" spc="40">
                <a:solidFill>
                  <a:srgbClr val="070B16"/>
                </a:solidFill>
                <a:latin typeface="Segoe UI Semibold"/>
              </a:rPr>
              <a:t>BORDERLINE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2511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8BD"/>
                </a:solidFill>
                <a:latin typeface="Segoe UI"/>
              </a:rPr>
              <a:t>omnibus p = 0.047 · min adjusted pairwise p = 0.053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73752"/>
            <a:ext cx="11091672" cy="475488"/>
          </a:xfrm>
          <a:prstGeom prst="roundRect">
            <a:avLst>
              <a:gd name="adj" fmla="val 15384"/>
            </a:avLst>
          </a:prstGeom>
          <a:solidFill>
            <a:srgbClr val="111C33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87375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"/>
              </a:rPr>
              <a:t>Delayed reporting indicates account takeover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53328" y="4965192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B4233F"/>
          </a:solidFill>
          <a:ln w="9525">
            <a:solidFill>
              <a:srgbClr val="B4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0" i="0" spc="40">
                <a:solidFill>
                  <a:srgbClr val="F1F5F9"/>
                </a:solidFill>
                <a:latin typeface="Segoe UI Semibold"/>
              </a:rPr>
              <a:t>CONTRADICTED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87375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8BD"/>
                </a:solidFill>
                <a:latin typeface="Segoe UI"/>
              </a:rPr>
              <a:t>takeover disputes reported 1.16 days earlier (5.45 d vs 6.62 d), p = 0.014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22392"/>
            <a:ext cx="11091672" cy="475488"/>
          </a:xfrm>
          <a:prstGeom prst="roundRect">
            <a:avLst>
              <a:gd name="adj" fmla="val 15384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22392"/>
            <a:ext cx="5166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1F5F9"/>
                </a:solidFill>
                <a:latin typeface="Segoe UI"/>
              </a:rPr>
              <a:t>Duplicates inflate revenue and dispute 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5513831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0" i="0" spc="40">
                <a:solidFill>
                  <a:srgbClr val="070B16"/>
                </a:solidFill>
                <a:latin typeface="Segoe UI Semibold"/>
              </a:rPr>
              <a:t>QUANTIFIED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422392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8BD"/>
                </a:solidFill>
                <a:latin typeface="Segoe UI"/>
              </a:rPr>
              <a:t>₹5,186,378 (2.0%) · 84 duplicate complaints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64748B"/>
                </a:solidFill>
                <a:latin typeface="Segoe UI"/>
              </a:rPr>
              <a:t>“Not supported” means this data did not show the effect — not that the effect cannot exist.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AI INVESTIGATOR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Ask Questions. Get Explainable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1615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The planner turns a question into a typed intent; every number comes from the query engine.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B2130"/>
          </a:solidFill>
          <a:ln w="9525">
            <a:solidFill>
              <a:srgbClr val="17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0" i="0" spc="40">
                <a:solidFill>
                  <a:srgbClr val="A5F3FC"/>
                </a:solidFill>
                <a:latin typeface="Segoe UI Semibold"/>
              </a:rPr>
              <a:t>Rule-based planner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6856" y="169164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B2130"/>
          </a:solidFill>
          <a:ln w="9525">
            <a:solidFill>
              <a:srgbClr val="17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0" i="0" spc="40">
                <a:solidFill>
                  <a:srgbClr val="A5F3FC"/>
                </a:solidFill>
                <a:latin typeface="Segoe UI Semibold"/>
              </a:rPr>
              <a:t>No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6916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B2130"/>
          </a:solidFill>
          <a:ln w="9525">
            <a:solidFill>
              <a:srgbClr val="17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0" i="0" spc="40">
                <a:solidFill>
                  <a:srgbClr val="A5F3FC"/>
                </a:solidFill>
                <a:latin typeface="Segoe UI Semibold"/>
              </a:rPr>
              <a:t>No API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6916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0B2130"/>
          </a:solidFill>
          <a:ln w="9525">
            <a:solidFill>
              <a:srgbClr val="17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0" i="0" spc="40">
                <a:solidFill>
                  <a:srgbClr val="A5F3FC"/>
                </a:solidFill>
                <a:latin typeface="Segoe UI Semibold"/>
              </a:rPr>
              <a:t>No external network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5704" y="16916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0" i="0" spc="40">
                <a:solidFill>
                  <a:srgbClr val="070B16"/>
                </a:solidFill>
                <a:latin typeface="Segoe UI Semibold"/>
              </a:rPr>
              <a:t>66 / 66 evaluation questions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B213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17627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spc="120">
                <a:solidFill>
                  <a:srgbClr val="22D3EE"/>
                </a:solidFill>
                <a:latin typeface="Segoe UI Semibold"/>
              </a:rPr>
              <a:t>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414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8BD"/>
                </a:solidFill>
                <a:latin typeface="Segoe UI"/>
              </a:rPr>
              <a:t>a question typed into the app in plain English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852927"/>
            <a:ext cx="0" cy="192025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3063239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36391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spc="120">
                <a:solidFill>
                  <a:srgbClr val="22D3EE"/>
                </a:solidFill>
                <a:latin typeface="Segoe UI Semibold"/>
              </a:rPr>
              <a:t>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4015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8BD"/>
                </a:solidFill>
                <a:latin typeface="Segoe UI"/>
              </a:rPr>
              <a:t>rule-based planner → typed intent: measure · dimension · grain · window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3813048"/>
            <a:ext cx="0" cy="192024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40233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0965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spc="120">
                <a:solidFill>
                  <a:srgbClr val="22D3EE"/>
                </a:solidFill>
                <a:latin typeface="Segoe UI Semibold"/>
              </a:rPr>
              <a:t>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3616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8BD"/>
                </a:solidFill>
                <a:latin typeface="Segoe UI"/>
              </a:rPr>
              <a:t>validated against the semantic registry — 23 metrics · 15 dimensions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4773168"/>
            <a:ext cx="0" cy="192024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49834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0B213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056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spc="120">
                <a:solidFill>
                  <a:srgbClr val="22D3EE"/>
                </a:solidFill>
                <a:latin typeface="Segoe UI Semibold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3218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AA8BD"/>
                </a:solidFill>
                <a:latin typeface="Segoe UI"/>
              </a:rPr>
              <a:t>narrative + caveats + provenance, with the chart chosen by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Same question in, same answer out — every step is deterministic.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21031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221284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00">
                <a:solidFill>
                  <a:srgbClr val="22D3EE"/>
                </a:solidFill>
                <a:latin typeface="Segoe UI Semibold"/>
              </a:rPr>
              <a:t>LIVE ANSWER FROM THE DEPLOYED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246888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F1F5F9"/>
                </a:solidFill>
                <a:latin typeface="Segoe UI"/>
              </a:rPr>
              <a:t>“Which merchant categories have the highest dispute rates?”</a:t>
            </a:r>
          </a:p>
        </p:txBody>
      </p:sp>
      <p:pic>
        <p:nvPicPr>
          <p:cNvPr id="33" name="Picture 32" descr="8_ai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788920"/>
            <a:ext cx="4846320" cy="2701781"/>
          </a:xfrm>
          <a:prstGeom prst="rect">
            <a:avLst/>
          </a:prstGeom>
          <a:ln w="9525">
            <a:solidFill>
              <a:srgbClr val="2A3654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3456432" y="559612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5B041"/>
                </a:solidFill>
                <a:latin typeface="Segoe UI Semibold"/>
              </a:rPr>
              <a:t>Caveat returned with the answer: 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the ranking is within sampling noise (χ² = 5.241, df = 11, p = 0.919).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599846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Horizontal bars with 95% intervals · chart chosen by explicit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2103120"/>
            <a:ext cx="3044952" cy="1005840"/>
          </a:xfrm>
          <a:prstGeom prst="roundRect">
            <a:avLst>
              <a:gd name="adj" fmla="val 7272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2185415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AA8BD"/>
                </a:solidFill>
                <a:latin typeface="Segoe UI"/>
              </a:rPr>
              <a:t>“What happened to transaction value over time?”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2487168"/>
            <a:ext cx="27706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₹2,775,250 per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2798063"/>
            <a:ext cx="277063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"/>
              </a:rPr>
              <a:t>Line chart · 1 Jan – 31 Mar 2026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154680"/>
            <a:ext cx="3044952" cy="1005840"/>
          </a:xfrm>
          <a:prstGeom prst="roundRect">
            <a:avLst>
              <a:gd name="adj" fmla="val 7272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323697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AA8BD"/>
                </a:solidFill>
                <a:latin typeface="Segoe UI"/>
              </a:rPr>
              <a:t>“chargebacks per 1000 transactions”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3538728"/>
            <a:ext cx="27706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D3EE"/>
                </a:solidFill>
                <a:latin typeface="Segoe UI Semibold"/>
              </a:rPr>
              <a:t>122.55 per 1,000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849624"/>
            <a:ext cx="277063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"/>
              </a:rPr>
              <a:t>Distinct disputed transactions — the 12.26% basis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4206240"/>
            <a:ext cx="3044952" cy="1005840"/>
          </a:xfrm>
          <a:prstGeom prst="roundRect">
            <a:avLst>
              <a:gd name="adj" fmla="val 7272"/>
            </a:avLst>
          </a:prstGeom>
          <a:solidFill>
            <a:srgbClr val="1A1320"/>
          </a:solidFill>
          <a:ln w="9525">
            <a:solidFill>
              <a:srgbClr val="5A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428853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AA8BD"/>
                </a:solidFill>
                <a:latin typeface="Segoe UI"/>
              </a:rPr>
              <a:t>“What is our profit margin?”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590288"/>
            <a:ext cx="27706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3F5E"/>
                </a:solidFill>
                <a:latin typeface="Segoe UI Semibold"/>
              </a:rPr>
              <a:t>Refused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901183"/>
            <a:ext cx="277063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"/>
              </a:rPr>
              <a:t>No fee, commission, cost or margin field exists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5257800"/>
            <a:ext cx="3044952" cy="1005840"/>
          </a:xfrm>
          <a:prstGeom prst="roundRect">
            <a:avLst>
              <a:gd name="adj" fmla="val 7272"/>
            </a:avLst>
          </a:prstGeom>
          <a:solidFill>
            <a:srgbClr val="1A1320"/>
          </a:solidFill>
          <a:ln w="9525">
            <a:solidFill>
              <a:srgbClr val="5A24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5340096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AA8BD"/>
                </a:solidFill>
                <a:latin typeface="Segoe UI"/>
              </a:rPr>
              <a:t>“Which customers committed fraud?”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5641848"/>
            <a:ext cx="27706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3F5E"/>
                </a:solidFill>
                <a:latin typeface="Segoe UI Semibold"/>
              </a:rPr>
              <a:t>Refused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952744"/>
            <a:ext cx="277063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"/>
              </a:rPr>
              <a:t>The data carries no confirmed fraud labels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From Analysis to Investigation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25296"/>
            <a:ext cx="1391716" cy="329184"/>
          </a:xfrm>
          <a:prstGeom prst="roundRect">
            <a:avLst>
              <a:gd name="adj" fmla="val 50000"/>
            </a:avLst>
          </a:prstGeom>
          <a:solidFill>
            <a:srgbClr val="0B21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0" i="0" spc="40">
                <a:solidFill>
                  <a:srgbClr val="22D3EE"/>
                </a:solidFill>
                <a:latin typeface="Segoe UI Semibold"/>
              </a:rPr>
              <a:t>1 · 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0356" y="1225296"/>
            <a:ext cx="9479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5149" y="1225296"/>
            <a:ext cx="1559051" cy="329184"/>
          </a:xfrm>
          <a:prstGeom prst="roundRect">
            <a:avLst>
              <a:gd name="adj" fmla="val 5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0" i="0" spc="40">
                <a:solidFill>
                  <a:srgbClr val="F1F5F9"/>
                </a:solidFill>
                <a:latin typeface="Segoe UI Semibold"/>
              </a:rPr>
              <a:t>2 · Transaction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4201" y="1225296"/>
            <a:ext cx="9479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8994" y="1225296"/>
            <a:ext cx="1503273" cy="329184"/>
          </a:xfrm>
          <a:prstGeom prst="roundRect">
            <a:avLst>
              <a:gd name="adj" fmla="val 5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0" i="0" spc="40">
                <a:solidFill>
                  <a:srgbClr val="F1F5F9"/>
                </a:solidFill>
                <a:latin typeface="Segoe UI Semibold"/>
              </a:rPr>
              <a:t>3 · Merchant &amp; User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2268" y="1225296"/>
            <a:ext cx="9479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87060" y="1225296"/>
            <a:ext cx="1782165" cy="329184"/>
          </a:xfrm>
          <a:prstGeom prst="roundRect">
            <a:avLst>
              <a:gd name="adj" fmla="val 5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0" i="0" spc="40">
                <a:solidFill>
                  <a:srgbClr val="F1F5F9"/>
                </a:solidFill>
                <a:latin typeface="Segoe UI Semibold"/>
              </a:rPr>
              <a:t>4 · Data Quality &amp; Hypotheses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9226" y="1225296"/>
            <a:ext cx="9479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4019" y="1225296"/>
            <a:ext cx="1391716" cy="329184"/>
          </a:xfrm>
          <a:prstGeom prst="roundRect">
            <a:avLst>
              <a:gd name="adj" fmla="val 5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0" i="0" spc="40">
                <a:solidFill>
                  <a:srgbClr val="F1F5F9"/>
                </a:solidFill>
                <a:latin typeface="Segoe UI Semibold"/>
              </a:rPr>
              <a:t>5 · Identity &amp;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5736" y="1225296"/>
            <a:ext cx="9479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0528" y="1225296"/>
            <a:ext cx="1670608" cy="329184"/>
          </a:xfrm>
          <a:prstGeom prst="roundRect">
            <a:avLst>
              <a:gd name="adj" fmla="val 5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0" i="0" spc="40">
                <a:solidFill>
                  <a:srgbClr val="F1F5F9"/>
                </a:solidFill>
                <a:latin typeface="Segoe UI Semibold"/>
              </a:rPr>
              <a:t>6 · Chargeback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1137" y="1225296"/>
            <a:ext cx="9479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15930" y="1225296"/>
            <a:ext cx="1224381" cy="329184"/>
          </a:xfrm>
          <a:prstGeom prst="roundRect">
            <a:avLst>
              <a:gd name="adj" fmla="val 50000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0" i="0" spc="40">
                <a:solidFill>
                  <a:srgbClr val="F1F5F9"/>
                </a:solidFill>
                <a:latin typeface="Segoe UI Semibold"/>
              </a:rPr>
              <a:t>7 · AI Investigator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719072"/>
            <a:ext cx="6803136" cy="4160520"/>
          </a:xfrm>
          <a:prstGeom prst="roundRect">
            <a:avLst>
              <a:gd name="adj" fmla="val 1758"/>
            </a:avLst>
          </a:prstGeom>
          <a:solidFill>
            <a:srgbClr val="0B1120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" y="1728216"/>
            <a:ext cx="6784848" cy="329184"/>
          </a:xfrm>
          <a:prstGeom prst="rect">
            <a:avLst/>
          </a:prstGeom>
          <a:solidFill>
            <a:srgbClr val="12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1828800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1828800"/>
            <a:ext cx="109728" cy="109728"/>
          </a:xfrm>
          <a:prstGeom prst="ellipse">
            <a:avLst/>
          </a:prstGeom>
          <a:solidFill>
            <a:srgbClr val="F5B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182880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1783080"/>
            <a:ext cx="4526280" cy="219456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9525">
            <a:solidFill>
              <a:srgbClr val="2A36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178308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"/>
                <a:hlinkClick r:id="rId3"/>
              </a:rPr>
              <a:t>kumarrishuraj-datavortex-appdashboard-vsor4k.streamlit.app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17830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1 · Executive Overview</a:t>
            </a:r>
          </a:p>
        </p:txBody>
      </p:sp>
      <p:pic>
        <p:nvPicPr>
          <p:cNvPr id="29" name="Picture 28" descr="1_execu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057400"/>
            <a:ext cx="6766560" cy="3806190"/>
          </a:xfrm>
          <a:prstGeom prst="rect">
            <a:avLst/>
          </a:prstGeom>
        </p:spPr>
      </p:pic>
      <p:pic>
        <p:nvPicPr>
          <p:cNvPr id="30" name="Picture 29" descr="2_transa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719072"/>
            <a:ext cx="1938528" cy="1090215"/>
          </a:xfrm>
          <a:prstGeom prst="rect">
            <a:avLst/>
          </a:prstGeom>
          <a:ln w="9525">
            <a:solidFill>
              <a:srgbClr val="2A3654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7589520" y="2834639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Segoe UI Semibold"/>
              </a:rPr>
              <a:t>2 · Transaction Analytics</a:t>
            </a:r>
          </a:p>
        </p:txBody>
      </p:sp>
      <p:pic>
        <p:nvPicPr>
          <p:cNvPr id="32" name="Picture 31" descr="3_mercha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1719072"/>
            <a:ext cx="1938528" cy="1090215"/>
          </a:xfrm>
          <a:prstGeom prst="rect">
            <a:avLst/>
          </a:prstGeom>
          <a:ln w="9525">
            <a:solidFill>
              <a:srgbClr val="2A3654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9628632" y="2834639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Segoe UI Semibold"/>
              </a:rPr>
              <a:t>3 · Merchant &amp; User Risk</a:t>
            </a:r>
          </a:p>
        </p:txBody>
      </p:sp>
      <p:pic>
        <p:nvPicPr>
          <p:cNvPr id="34" name="Picture 33" descr="4_da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118104"/>
            <a:ext cx="1938528" cy="1090215"/>
          </a:xfrm>
          <a:prstGeom prst="rect">
            <a:avLst/>
          </a:prstGeom>
          <a:ln w="9525">
            <a:solidFill>
              <a:srgbClr val="2A3654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7589520" y="4233672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Segoe UI Semibold"/>
              </a:rPr>
              <a:t>4 · Data Quality &amp; Hypotheses</a:t>
            </a:r>
          </a:p>
        </p:txBody>
      </p:sp>
      <p:pic>
        <p:nvPicPr>
          <p:cNvPr id="36" name="Picture 35" descr="5_ident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8632" y="3118104"/>
            <a:ext cx="1938528" cy="1090215"/>
          </a:xfrm>
          <a:prstGeom prst="rect">
            <a:avLst/>
          </a:prstGeom>
          <a:ln w="9525">
            <a:solidFill>
              <a:srgbClr val="2A3654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9628632" y="4233672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Segoe UI Semibold"/>
              </a:rPr>
              <a:t>5 · Identity &amp; Network</a:t>
            </a:r>
          </a:p>
        </p:txBody>
      </p:sp>
      <p:pic>
        <p:nvPicPr>
          <p:cNvPr id="38" name="Picture 37" descr="6_chargeba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4517136"/>
            <a:ext cx="1938528" cy="1090215"/>
          </a:xfrm>
          <a:prstGeom prst="rect">
            <a:avLst/>
          </a:prstGeom>
          <a:ln w="9525">
            <a:solidFill>
              <a:srgbClr val="2A3654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7589520" y="5632703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Segoe UI Semibold"/>
              </a:rPr>
              <a:t>6 · Chargeback Intelligence</a:t>
            </a:r>
          </a:p>
        </p:txBody>
      </p:sp>
      <p:pic>
        <p:nvPicPr>
          <p:cNvPr id="40" name="Picture 39" descr="7_a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8632" y="4517136"/>
            <a:ext cx="1938528" cy="1090215"/>
          </a:xfrm>
          <a:prstGeom prst="rect">
            <a:avLst/>
          </a:prstGeom>
          <a:ln w="9525">
            <a:solidFill>
              <a:srgbClr val="2A3654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9628632" y="5632703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Segoe UI Semibold"/>
              </a:rPr>
              <a:t>7 · AI Investigator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Live dashboard  </a:t>
            </a:r>
            <a:r>
              <a:rPr sz="1100" b="0" i="0">
                <a:solidFill>
                  <a:srgbClr val="22D3EE"/>
                </a:solidFill>
                <a:latin typeface="Segoe UI Semibold"/>
                <a:hlinkClick r:id="rId3"/>
              </a:rPr>
              <a:t>https://kumarrishuraj-datavortex-appdashboard-vsor4k.streamlit.app/</a:t>
            </a:r>
            <a:r>
              <a:rPr sz="1100" b="0" i="0">
                <a:solidFill>
                  <a:srgbClr val="9AA8BD"/>
                </a:solidFill>
                <a:latin typeface="Segoe UI"/>
              </a:rPr>
              <a:t>        GitHub  </a:t>
            </a:r>
            <a:r>
              <a:rPr sz="1100" b="0" i="0">
                <a:solidFill>
                  <a:srgbClr val="22D3EE"/>
                </a:solidFill>
                <a:latin typeface="Segoe UI Semibold"/>
                <a:hlinkClick r:id="rId11"/>
              </a:rPr>
              <a:t>https://github.com/kumarrishuraj/datavortex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29260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31089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 spc="220">
                <a:solidFill>
                  <a:srgbClr val="22D3EE"/>
                </a:solidFill>
                <a:latin typeface="Segoe UI Semibold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1F5F9"/>
                </a:solidFill>
                <a:latin typeface="Segoe UI Semibold"/>
              </a:rPr>
              <a:t>DataVortex: A Defensible Fraud-Intelligence Foundation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182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DataVortex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UPI Fraud &amp; Identity Intelligence  ·  TransOrg AgentIQ Datathon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645566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8BD"/>
                </a:solidFill>
                <a:latin typeface="Segoe UI Semibold"/>
              </a:rPr>
              <a:t>12 / 12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83664"/>
            <a:ext cx="274320" cy="274320"/>
          </a:xfrm>
          <a:prstGeom prst="ellipse">
            <a:avLst/>
          </a:prstGeom>
          <a:solidFill>
            <a:srgbClr val="0B2130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56231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Rescues noisy UPI data before any analytics runs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05456"/>
            <a:ext cx="274320" cy="274320"/>
          </a:xfrm>
          <a:prstGeom prst="ellipse">
            <a:avLst/>
          </a:prstGeom>
          <a:solidFill>
            <a:srgbClr val="0B2130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05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7802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Preserves unmatched records under UNKNOWN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27248"/>
            <a:ext cx="274320" cy="274320"/>
          </a:xfrm>
          <a:prstGeom prst="ellipse">
            <a:avLst/>
          </a:prstGeom>
          <a:solidFill>
            <a:srgbClr val="0B2130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99816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Separates identity collisions from fraud conclusions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749039"/>
            <a:ext cx="274320" cy="274320"/>
          </a:xfrm>
          <a:prstGeom prst="ellipse">
            <a:avLst/>
          </a:prstGeom>
          <a:solidFill>
            <a:srgbClr val="0B2130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21608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Tests every suggested insight with defensible statistics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370832"/>
            <a:ext cx="274320" cy="274320"/>
          </a:xfrm>
          <a:prstGeom prst="ellipse">
            <a:avLst/>
          </a:prstGeom>
          <a:solidFill>
            <a:srgbClr val="0B2130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Explains every answer, with privacy-safe masking throughout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992624"/>
            <a:ext cx="274320" cy="274320"/>
          </a:xfrm>
          <a:prstGeom prst="ellipse">
            <a:avLst/>
          </a:prstGeom>
          <a:solidFill>
            <a:srgbClr val="0B2130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926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2D3EE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65192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Segoe UI"/>
              </a:rPr>
              <a:t>Delivers it as an interactive decision-support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Built with </a:t>
            </a:r>
            <a:r>
              <a:rPr sz="1050" b="0" i="0">
                <a:solidFill>
                  <a:srgbClr val="9AA8BD"/>
                </a:solidFill>
                <a:latin typeface="Segoe UI Semibold"/>
              </a:rPr>
              <a:t>Python · pandas · PyArrow/Parquet · NetworkX · Streamlit · Plotly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1783080"/>
            <a:ext cx="4828032" cy="2377440"/>
          </a:xfrm>
          <a:prstGeom prst="roundRect">
            <a:avLst>
              <a:gd name="adj" fmla="val 3076"/>
            </a:avLst>
          </a:prstGeom>
          <a:solidFill>
            <a:srgbClr val="0B2130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86600" y="2121408"/>
            <a:ext cx="6400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2377440"/>
            <a:ext cx="43434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900" b="0" i="0">
                <a:solidFill>
                  <a:srgbClr val="F1F5F9"/>
                </a:solidFill>
                <a:latin typeface="Segoe UI Semibold"/>
              </a:rPr>
              <a:t>DataVortex does not manufacture fraud signals.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 i="0">
                <a:solidFill>
                  <a:srgbClr val="A5F3FC"/>
                </a:solidFill>
                <a:latin typeface="Segoe UI"/>
              </a:rPr>
              <a:t>It builds the data foundation required to investigate them responsibly.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4434840"/>
            <a:ext cx="4828032" cy="1783080"/>
          </a:xfrm>
          <a:prstGeom prst="roundRect">
            <a:avLst>
              <a:gd name="adj" fmla="val 4102"/>
            </a:avLst>
          </a:prstGeom>
          <a:solidFill>
            <a:srgbClr val="0E1628"/>
          </a:solidFill>
          <a:ln w="9525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544568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 spc="220">
                <a:solidFill>
                  <a:srgbClr val="22D3EE"/>
                </a:solidFill>
                <a:latin typeface="Segoe UI Semibold"/>
              </a:rPr>
              <a:t>TEAM DATAVORTEX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46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Rishuraj Kumar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846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12400878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1480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Amit Kumar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14807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12400871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449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 Semibold"/>
              </a:rPr>
              <a:t>Satyam Saurabh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44982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12310274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806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2D3EE"/>
                </a:solidFill>
                <a:latin typeface="Segoe UI Semibold"/>
                <a:hlinkClick r:id="rId3"/>
              </a:rPr>
              <a:t>Live dashboard ↗</a:t>
            </a:r>
            <a:r>
              <a:rPr sz="1150" b="0" i="0">
                <a:solidFill>
                  <a:srgbClr val="F1F5F9"/>
                </a:solidFill>
                <a:latin typeface="Segoe UI"/>
              </a:rPr>
              <a:t>     </a:t>
            </a:r>
            <a:r>
              <a:rPr sz="1150" b="0" i="0">
                <a:solidFill>
                  <a:srgbClr val="22D3EE"/>
                </a:solidFill>
                <a:latin typeface="Segoe UI Semibold"/>
                <a:hlinkClick r:id="rId4"/>
              </a:rPr>
              <a:t>GitHub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D3EE"/>
      </a:hlink>
      <a:folHlink>
        <a:srgbClr val="A5F3F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